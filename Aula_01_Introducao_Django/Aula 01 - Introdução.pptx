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embeddedFontLst>
    <p:embeddedFont>
      <p:font typeface="Cabin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bold.fntdata"/><Relationship Id="rId11" Type="http://schemas.openxmlformats.org/officeDocument/2006/relationships/slide" Target="slides/slide7.xml"/><Relationship Id="rId22" Type="http://schemas.openxmlformats.org/officeDocument/2006/relationships/font" Target="fonts/Cabin-boldItalic.fntdata"/><Relationship Id="rId10" Type="http://schemas.openxmlformats.org/officeDocument/2006/relationships/slide" Target="slides/slide6.xml"/><Relationship Id="rId21" Type="http://schemas.openxmlformats.org/officeDocument/2006/relationships/font" Target="fonts/Cabin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abin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bf1f0ef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bf1f0e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1f1fbf1f0e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6bbbb63f5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6bbbb63f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86bbbb63f5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6bbbb63f5_0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6bbbb63f5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86bbbb63f5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6bbbb63f5_0_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6bbbb63f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86bbbb63f5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6bbbb63f5_0_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6bbbb63f5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86bbbb63f5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bbbb63f5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6bbbb63f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6bbbb63f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6c06ec529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6c06ec52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86c06ec529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b9ddcb24e_0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b9ddcb24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b9ddcb24e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b9ddcb24e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b9ddcb24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cb9ddcb24e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b9ddcb24e_0_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b9ddcb24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b9ddcb24e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b9ddcb24e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b9ddcb24e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b9ddcb24e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6bbbb63f5_0_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6bbbb63f5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86bbbb63f5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e39e83663_0_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e39e8366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e39e83663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6c06ec529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6c06ec52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86c06ec52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3"/>
          <p:cNvGrpSpPr/>
          <p:nvPr/>
        </p:nvGrpSpPr>
        <p:grpSpPr>
          <a:xfrm>
            <a:off x="830392" y="978618"/>
            <a:ext cx="745804" cy="61198"/>
            <a:chOff x="830392" y="733982"/>
            <a:chExt cx="745804" cy="45900"/>
          </a:xfrm>
        </p:grpSpPr>
        <p:sp>
          <p:nvSpPr>
            <p:cNvPr id="87" name="Google Shape;87;p13"/>
            <p:cNvSpPr/>
            <p:nvPr/>
          </p:nvSpPr>
          <p:spPr>
            <a:xfrm rot="-5400000">
              <a:off x="1366796" y="570482"/>
              <a:ext cx="45900" cy="372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 rot="-5400000">
              <a:off x="995392" y="568982"/>
              <a:ext cx="45900" cy="375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>
            <p:ph type="title"/>
          </p:nvPr>
        </p:nvSpPr>
        <p:spPr>
          <a:xfrm>
            <a:off x="729450" y="1148600"/>
            <a:ext cx="7688700" cy="7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729450" y="2162233"/>
            <a:ext cx="7688700" cy="41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rtl="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rtl="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rtl="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614380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5436975" y="5573125"/>
            <a:ext cx="327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Aula 01 - Introduç</a:t>
            </a:r>
            <a:r>
              <a:rPr b="1"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ão</a:t>
            </a:r>
            <a:endParaRPr b="1" i="0" sz="2400" u="none" cap="none" strike="noStrike">
              <a:solidFill>
                <a:schemeClr val="dk1"/>
              </a:solidFill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35889" r="0" t="0"/>
          <a:stretch/>
        </p:blipFill>
        <p:spPr>
          <a:xfrm>
            <a:off x="0" y="0"/>
            <a:ext cx="5199800" cy="524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876895" y="3064248"/>
            <a:ext cx="5114700" cy="9390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Programação para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029295" y="4131048"/>
            <a:ext cx="5114700" cy="9390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99176" y="5573123"/>
            <a:ext cx="216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Raphael Muniz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29656" y="5880780"/>
            <a:ext cx="2337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raphael.muniz</a:t>
            </a:r>
            <a:r>
              <a:rPr b="0" i="0" lang="en-US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@</a:t>
            </a:r>
            <a:r>
              <a:rPr lang="en-U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ifrn.edu.br</a:t>
            </a:r>
            <a:endParaRPr b="0" i="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738" y="5420713"/>
            <a:ext cx="1142125" cy="11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31450" y="1842450"/>
            <a:ext cx="708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US" sz="1800"/>
              <a:t>F</a:t>
            </a:r>
            <a:r>
              <a:rPr i="1" lang="en-US" sz="1800"/>
              <a:t>ramework</a:t>
            </a:r>
            <a:r>
              <a:rPr lang="en-US" sz="1800"/>
              <a:t> para construção de aplicações web em Python.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Utilizado por grandes empresas ao redor do mundo:</a:t>
            </a:r>
            <a:endParaRPr sz="1800"/>
          </a:p>
        </p:txBody>
      </p:sp>
      <p:sp>
        <p:nvSpPr>
          <p:cNvPr id="114" name="Google Shape;114;p15"/>
          <p:cNvSpPr txBox="1"/>
          <p:nvPr/>
        </p:nvSpPr>
        <p:spPr>
          <a:xfrm>
            <a:off x="931450" y="481075"/>
            <a:ext cx="589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Framework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3574025"/>
            <a:ext cx="79248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31450" y="1842450"/>
            <a:ext cx="708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Dentro do Desenvolvimento Web existem 2 áreas principais:  </a:t>
            </a:r>
            <a:r>
              <a:rPr i="1" lang="en-US" sz="1800"/>
              <a:t>Frontend e Backend</a:t>
            </a:r>
            <a:r>
              <a:rPr lang="en-US" sz="1800"/>
              <a:t>.</a:t>
            </a:r>
            <a:endParaRPr sz="1800"/>
          </a:p>
        </p:txBody>
      </p:sp>
      <p:sp>
        <p:nvSpPr>
          <p:cNvPr id="124" name="Google Shape;124;p16"/>
          <p:cNvSpPr txBox="1"/>
          <p:nvPr/>
        </p:nvSpPr>
        <p:spPr>
          <a:xfrm>
            <a:off x="931450" y="481075"/>
            <a:ext cx="589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Web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4950" y="3287850"/>
            <a:ext cx="5524392" cy="291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931450" y="1842450"/>
            <a:ext cx="7697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US" sz="1800"/>
              <a:t>Frontend </a:t>
            </a:r>
            <a:endParaRPr i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É constituído por tudo aquilo que o Usuário final vê e interage e é composto, basicamente, das páginas web que esse Usuário terá acesso. 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US" sz="1800"/>
              <a:t>Backend</a:t>
            </a:r>
            <a:r>
              <a:rPr lang="en-US" sz="1800"/>
              <a:t>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Também chamado de Servidor, tem as seguintes responsabilidades: processa as requisições enviadas pelo </a:t>
            </a:r>
            <a:r>
              <a:rPr i="1" lang="en-US" sz="1800"/>
              <a:t>frontend</a:t>
            </a:r>
            <a:r>
              <a:rPr lang="en-US" sz="1800"/>
              <a:t>, mantém as Regras de Negócio do sistema e gerencia o acesso ao Banco de Dados.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US" sz="1800"/>
              <a:t>Aqui que o Python está presente!</a:t>
            </a:r>
            <a:endParaRPr b="1" sz="1800"/>
          </a:p>
        </p:txBody>
      </p:sp>
      <p:sp>
        <p:nvSpPr>
          <p:cNvPr id="134" name="Google Shape;134;p17"/>
          <p:cNvSpPr txBox="1"/>
          <p:nvPr/>
        </p:nvSpPr>
        <p:spPr>
          <a:xfrm>
            <a:off x="931450" y="481075"/>
            <a:ext cx="589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Web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29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5436975" y="5573125"/>
            <a:ext cx="327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Aula 01 - Introdução</a:t>
            </a:r>
            <a:endParaRPr b="1" i="0" sz="2400" u="none" cap="none" strike="noStrike">
              <a:solidFill>
                <a:schemeClr val="dk1"/>
              </a:solidFill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35889" r="0" t="0"/>
          <a:stretch/>
        </p:blipFill>
        <p:spPr>
          <a:xfrm>
            <a:off x="0" y="0"/>
            <a:ext cx="5199800" cy="524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876895" y="3064248"/>
            <a:ext cx="5114700" cy="9390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Primeiro projeto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029295" y="4131048"/>
            <a:ext cx="5114700" cy="9390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Django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99176" y="5573123"/>
            <a:ext cx="216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Raphael Muniz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29656" y="5880780"/>
            <a:ext cx="2337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raphael.muniz</a:t>
            </a:r>
            <a:r>
              <a:rPr b="0" i="0" lang="en-US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@</a:t>
            </a:r>
            <a:r>
              <a:rPr lang="en-U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ifrn.edu.br</a:t>
            </a:r>
            <a:endParaRPr b="0" i="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738" y="5420713"/>
            <a:ext cx="1142125" cy="11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29050" y="409450"/>
            <a:ext cx="406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Ambientes Virtuais (venv)</a:t>
            </a:r>
            <a:endParaRPr b="1" sz="2000"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29050" y="1003100"/>
            <a:ext cx="8292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 que é um Ambiente Virtual?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Diretório isolado que contém uma instalação Python independente, permitindo que você: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Mantenha dependências de diferentes projetos separadas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Evite conflitos entre versões de pacotes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Facilite o deployment e compartilhamento do projeto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Criando e Ativando um Ambiente Virtual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99650" y="3012750"/>
            <a:ext cx="3793800" cy="2154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No terminal, navegue até a pasta do seu projeto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97E1F1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~/projetos/meu_projeto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Crie o ambiente virtual 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python3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-m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venv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venv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Ou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-m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venv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venv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913175" y="3012750"/>
            <a:ext cx="3930600" cy="2154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### Ativando o Ambiente Virtual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Linux/Mac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7E1F1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venv/bin/activate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Windows (CMD)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venv\Scripts\activate</a:t>
            </a:r>
            <a:endParaRPr b="1" sz="1050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### Desativando o Ambiente Virtual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deactivate</a:t>
            </a:r>
            <a:endParaRPr b="1">
              <a:solidFill>
                <a:srgbClr val="62E88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99650" y="5288675"/>
            <a:ext cx="8144100" cy="6927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💡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Dica: </a:t>
            </a:r>
            <a:r>
              <a:rPr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Quando o ambiente está ativado, você verá </a:t>
            </a:r>
            <a:r>
              <a:rPr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`(venv)`</a:t>
            </a:r>
            <a:r>
              <a:rPr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no início da linha do terminal.</a:t>
            </a:r>
            <a:endParaRPr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429050" y="409450"/>
            <a:ext cx="406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Instalação do Django</a:t>
            </a:r>
            <a:endParaRPr b="1" sz="2000"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564350" y="1508061"/>
            <a:ext cx="3793800" cy="36171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Com o ambiente virtual ativado: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Instalar a versão mais recente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pip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install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django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Ou instalar uma versão específica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pip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install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django==</a:t>
            </a: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5.0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Verificar a instalação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-m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django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--version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584750" y="1508061"/>
            <a:ext cx="3930600" cy="42021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### Salvando Dependências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Criar arquivo de requisitos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pip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freeze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F286C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Instalar dependências de um projeto existente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pip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install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Exemplo de requirements.txt:</a:t>
            </a:r>
            <a:endParaRPr b="1">
              <a:solidFill>
                <a:srgbClr val="FFB86C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Django==5.0.2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asgiref==3.7.2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sqlparse==0.4.4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429050" y="409450"/>
            <a:ext cx="406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Criando o primeiro projeto</a:t>
            </a:r>
            <a:endParaRPr b="1" sz="2000"/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564350" y="902050"/>
            <a:ext cx="7327500" cy="1569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Criar um novo projeto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django-admin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startproject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meu_projeto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Ou criar na pasta atual (note o ponto no final)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django-admin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startproject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meu_projeto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64350" y="2699809"/>
            <a:ext cx="7327500" cy="33246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Estrutura de Pastas Criada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62E88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meu_projeto/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├── meu_projeto/       # Pasta principal do projeto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__init__.py    # Marca a pasta como pacote Python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asgi.py        # Configuração ASGI (servidor assíncrono)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settings.py    # Configurações do projeto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│   ├── urls.py        # Roteamento de URLs principal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│   └── wsgi.py        # Configuração WSGI (servidor web)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└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── manage.py          # Ferramenta de linha de comando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7" name="Google Shape;187;p22"/>
          <p:cNvCxnSpPr/>
          <p:nvPr/>
        </p:nvCxnSpPr>
        <p:spPr>
          <a:xfrm rot="10800000">
            <a:off x="3121775" y="4196700"/>
            <a:ext cx="3644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2"/>
          <p:cNvCxnSpPr/>
          <p:nvPr/>
        </p:nvCxnSpPr>
        <p:spPr>
          <a:xfrm rot="10800000">
            <a:off x="3121775" y="4758525"/>
            <a:ext cx="2856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2"/>
          <p:cNvCxnSpPr/>
          <p:nvPr/>
        </p:nvCxnSpPr>
        <p:spPr>
          <a:xfrm rot="10800000">
            <a:off x="3121775" y="5054225"/>
            <a:ext cx="3265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2"/>
          <p:cNvCxnSpPr/>
          <p:nvPr/>
        </p:nvCxnSpPr>
        <p:spPr>
          <a:xfrm rot="10800000">
            <a:off x="3121775" y="5636525"/>
            <a:ext cx="3490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429050" y="409450"/>
            <a:ext cx="406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Arquivo </a:t>
            </a:r>
            <a:r>
              <a:rPr b="1" i="1" lang="en-US" sz="2000">
                <a:latin typeface="Consolas"/>
                <a:ea typeface="Consolas"/>
                <a:cs typeface="Consolas"/>
                <a:sym typeface="Consolas"/>
              </a:rPr>
              <a:t>manage.py</a:t>
            </a:r>
            <a:endParaRPr b="1" i="1"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2494800" y="1504350"/>
            <a:ext cx="4154400" cy="50796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Iniciar servidor de desenvolvimento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runserver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Criar novo app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startapp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nome_app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Criar migrations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makemigrations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Aplicar migrations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migrate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Criar superusuário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createsuperuser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Abrir shell interativo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shell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429050" y="1003100"/>
            <a:ext cx="82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É a interface de linha de comando para interagir com o Django: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429050" y="409450"/>
            <a:ext cx="406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Executando o Projeto</a:t>
            </a:r>
            <a:endParaRPr b="1" i="1"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2494800" y="992550"/>
            <a:ext cx="4154400" cy="2739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Iniciando o Servidor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runserver</a:t>
            </a:r>
            <a:endParaRPr b="1">
              <a:solidFill>
                <a:srgbClr val="E7EE98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Especificar porta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runserver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8080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7B7F8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# Especificar IP e porta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manage.py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runserver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E7EE9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0.0.0.0:8000</a:t>
            </a:r>
            <a:endParaRPr b="1">
              <a:solidFill>
                <a:srgbClr val="7B7F8B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928050" y="3874128"/>
            <a:ext cx="7287900" cy="24474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Acessando o Projeto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Abra o navegador e acesse: </a:t>
            </a:r>
            <a:r>
              <a:rPr b="1" lang="en-US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`http://127.0.0.1:8000/`</a:t>
            </a:r>
            <a:endParaRPr b="1">
              <a:solidFill>
                <a:srgbClr val="62E88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Você verá a página inicial do Django! 🚀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Características do servidor:</a:t>
            </a:r>
            <a:endParaRPr b="1">
              <a:solidFill>
                <a:srgbClr val="FFB86C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 ✅ Reinicia automaticamente ao detectar mudanças no código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 ✅ Apenas para desenvolvimento (não use em produção!)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 ✅ Mostra erros detalhados no navegador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675550" y="1033825"/>
            <a:ext cx="708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Estruturado em camadas, sendo chamado de um </a:t>
            </a:r>
            <a:r>
              <a:rPr i="1" lang="en-US" sz="1800"/>
              <a:t>Framework</a:t>
            </a:r>
            <a:r>
              <a:rPr lang="en-US" sz="1800"/>
              <a:t> </a:t>
            </a:r>
            <a:r>
              <a:rPr b="1" i="1" lang="en-US" sz="1800"/>
              <a:t>MTV</a:t>
            </a:r>
            <a:r>
              <a:rPr lang="en-US" sz="1800"/>
              <a:t>: </a:t>
            </a:r>
            <a:endParaRPr b="1" sz="1800"/>
          </a:p>
        </p:txBody>
      </p:sp>
      <p:sp>
        <p:nvSpPr>
          <p:cNvPr id="219" name="Google Shape;219;p25"/>
          <p:cNvSpPr txBox="1"/>
          <p:nvPr/>
        </p:nvSpPr>
        <p:spPr>
          <a:xfrm>
            <a:off x="931450" y="214944"/>
            <a:ext cx="589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Framework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359" y="1485500"/>
            <a:ext cx="4961500" cy="528808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194475" y="2201600"/>
            <a:ext cx="3736200" cy="31977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1. </a:t>
            </a:r>
            <a:r>
              <a:rPr b="1" lang="en-US" sz="10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**Template (T)**</a:t>
            </a: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1" lang="en-US" sz="1050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`templates/*.html`</a:t>
            </a:r>
            <a:endParaRPr b="1" sz="1050">
              <a:solidFill>
                <a:srgbClr val="62E88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Define a apresentação (interface)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HTML com sintaxe do Django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Recebe dados da View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2. </a:t>
            </a:r>
            <a:r>
              <a:rPr b="1" lang="en-US" sz="10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**View (V)**</a:t>
            </a: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1" lang="en-US" sz="1050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`views.py`</a:t>
            </a:r>
            <a:endParaRPr b="1" sz="1050">
              <a:solidFill>
                <a:srgbClr val="62E88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Contém a lógica de negócio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Processa requisições HTTP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Retorna respostas (HTML, JSON, etc.)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3. </a:t>
            </a:r>
            <a:r>
              <a:rPr b="1" lang="en-US" sz="10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**Model (M)**</a:t>
            </a: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1" lang="en-US" sz="1050">
                <a:solidFill>
                  <a:srgbClr val="62E8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`models.py`</a:t>
            </a:r>
            <a:endParaRPr b="1" sz="1050">
              <a:solidFill>
                <a:srgbClr val="62E88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Define a estrutura dos dados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Interage com o banco de dados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- ORM do Django</a:t>
            </a:r>
            <a:endParaRPr b="1" sz="1050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" name="Google Shape;228;p26"/>
          <p:cNvPicPr preferRelativeResize="0"/>
          <p:nvPr/>
        </p:nvPicPr>
        <p:blipFill rotWithShape="1">
          <a:blip r:embed="rId3">
            <a:alphaModFix/>
          </a:blip>
          <a:srcRect b="17157" l="0" r="744" t="15216"/>
          <a:stretch/>
        </p:blipFill>
        <p:spPr>
          <a:xfrm>
            <a:off x="429050" y="6194806"/>
            <a:ext cx="1423500" cy="60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29" name="Google Shape;229;p26"/>
          <p:cNvSpPr txBox="1"/>
          <p:nvPr/>
        </p:nvSpPr>
        <p:spPr>
          <a:xfrm>
            <a:off x="931450" y="214944"/>
            <a:ext cx="589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Framework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1296600" y="972875"/>
            <a:ext cx="6550800" cy="39096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Boas Práticas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**Use ambiente virtual**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para cada projeto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**Mantenha requirements.txt atualizado**</a:t>
            </a:r>
            <a:endParaRPr b="1">
              <a:solidFill>
                <a:srgbClr val="FFB86C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**Não versione arquivos sensíveis**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(senhas, chaves)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**Siga convenções de nomenclatura**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do Django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**Documente seu projeto**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(README.md)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BF9EEE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Evite</a:t>
            </a:r>
            <a:endParaRPr b="1">
              <a:solidFill>
                <a:srgbClr val="BF9EEE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**Não commite venv/**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no Git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**Não use DEBUG=True**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em produção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3. </a:t>
            </a:r>
            <a:r>
              <a:rPr b="1" lang="en-US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**Não exponha SECRET_KEY**</a:t>
            </a:r>
            <a:r>
              <a:rPr b="1" lang="en-US">
                <a:solidFill>
                  <a:srgbClr val="F6F6F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publicamente</a:t>
            </a:r>
            <a:endParaRPr b="1">
              <a:solidFill>
                <a:srgbClr val="F6F6F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/>
          <p:nvPr/>
        </p:nvSpPr>
        <p:spPr>
          <a:xfrm>
            <a:off x="5436975" y="5573125"/>
            <a:ext cx="327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Aula 01 - Introdução</a:t>
            </a:r>
            <a:endParaRPr b="1" i="0" sz="2400" u="none" cap="none" strike="noStrike">
              <a:solidFill>
                <a:schemeClr val="dk1"/>
              </a:solidFill>
            </a:endParaRPr>
          </a:p>
        </p:txBody>
      </p:sp>
      <p:pic>
        <p:nvPicPr>
          <p:cNvPr id="237" name="Google Shape;237;p27"/>
          <p:cNvPicPr preferRelativeResize="0"/>
          <p:nvPr/>
        </p:nvPicPr>
        <p:blipFill rotWithShape="1">
          <a:blip r:embed="rId3">
            <a:alphaModFix/>
          </a:blip>
          <a:srcRect b="0" l="35889" r="0" t="0"/>
          <a:stretch/>
        </p:blipFill>
        <p:spPr>
          <a:xfrm>
            <a:off x="0" y="0"/>
            <a:ext cx="5199800" cy="5247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3876895" y="3064248"/>
            <a:ext cx="5114700" cy="9390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Programação para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4029295" y="4131048"/>
            <a:ext cx="5114700" cy="9390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699176" y="5573123"/>
            <a:ext cx="2164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Raphael Muniz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729656" y="5880780"/>
            <a:ext cx="2337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300" lIns="50625" spcFirstLastPara="1" rIns="50625" wrap="square" tIns="2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raphael.muniz</a:t>
            </a:r>
            <a:r>
              <a:rPr b="0" i="0" lang="en-US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@</a:t>
            </a:r>
            <a:r>
              <a:rPr lang="en-US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ifrn.edu.br</a:t>
            </a:r>
            <a:endParaRPr b="0" i="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43" name="Google Shape;24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5738" y="5420713"/>
            <a:ext cx="1142125" cy="11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